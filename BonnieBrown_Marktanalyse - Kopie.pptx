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458</c:v>
                </c:pt>
                <c:pt idx="1">
                  <c:v>462</c:v>
                </c:pt>
                <c:pt idx="2">
                  <c:v>462</c:v>
                </c:pt>
                <c:pt idx="3">
                  <c:v>465</c:v>
                </c:pt>
                <c:pt idx="4">
                  <c:v>465</c:v>
                </c:pt>
                <c:pt idx="5">
                  <c:v>464</c:v>
                </c:pt>
                <c:pt idx="6">
                  <c:v>468</c:v>
                </c:pt>
                <c:pt idx="7">
                  <c:v>456</c:v>
                </c:pt>
                <c:pt idx="8">
                  <c:v>463</c:v>
                </c:pt>
                <c:pt idx="9">
                  <c:v>462</c:v>
                </c:pt>
                <c:pt idx="10">
                  <c:v>458</c:v>
                </c:pt>
                <c:pt idx="11">
                  <c:v>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E6-4A4C-BE4A-B27C0C8F2A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5"/>
          <c:min val="4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Price (K USD)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BEEC-4512-824D-39DBFB93CB1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EC-4512-824D-39DBFB93CB10}"/>
              </c:ext>
            </c:extLst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EC-4512-824D-39DBFB93CB10}"/>
              </c:ext>
            </c:extLst>
          </c:dPt>
          <c:cat>
            <c:strRef>
              <c:f>Sheet1!$A$2:$A$7</c:f>
              <c:strCache>
                <c:ptCount val="6"/>
                <c:pt idx="0">
                  <c:v>98075</c:v>
                </c:pt>
                <c:pt idx="1">
                  <c:v>98005</c:v>
                </c:pt>
                <c:pt idx="2">
                  <c:v>98119</c:v>
                </c:pt>
                <c:pt idx="3">
                  <c:v>98109</c:v>
                </c:pt>
                <c:pt idx="4">
                  <c:v>98105</c:v>
                </c:pt>
                <c:pt idx="5">
                  <c:v>98030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560</c:v>
                </c:pt>
                <c:pt idx="1">
                  <c:v>558</c:v>
                </c:pt>
                <c:pt idx="2">
                  <c:v>546</c:v>
                </c:pt>
                <c:pt idx="3">
                  <c:v>538</c:v>
                </c:pt>
                <c:pt idx="4">
                  <c:v>535</c:v>
                </c:pt>
                <c:pt idx="5">
                  <c:v>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EC-4512-824D-39DBFB93CB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Zipcode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70"/>
          <c:min val="35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Price (K USD)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D4A574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359</c:v>
                </c:pt>
                <c:pt idx="1">
                  <c:v>407</c:v>
                </c:pt>
                <c:pt idx="2">
                  <c:v>412</c:v>
                </c:pt>
                <c:pt idx="3">
                  <c:v>445</c:v>
                </c:pt>
                <c:pt idx="4">
                  <c:v>478</c:v>
                </c:pt>
                <c:pt idx="5">
                  <c:v>515</c:v>
                </c:pt>
                <c:pt idx="6">
                  <c:v>543</c:v>
                </c:pt>
                <c:pt idx="7">
                  <c:v>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0C-4E3A-9BA0-A75AA0B4D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Grade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"/>
          <c:min val="3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Price (K USD)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10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971" y="1117402"/>
            <a:ext cx="23180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016672" y="1582192"/>
            <a:ext cx="511065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9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Your House</a:t>
            </a:r>
            <a:b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Optimally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554821" y="2456057"/>
            <a:ext cx="40342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2400"/>
              </a:spcAft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5653" y="3450878"/>
            <a:ext cx="15725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Bonnie Brown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Situation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7700" y="1078383"/>
            <a:ext cx="16244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7700" y="1339278"/>
            <a:ext cx="3388736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of a </a:t>
            </a: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in mid-class neighborhood</a:t>
            </a: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in the </a:t>
            </a: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future</a:t>
            </a: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7700" y="1904826"/>
            <a:ext cx="19846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 price</a:t>
            </a:r>
            <a:endParaRPr lang="en-US" sz="1000" b="1" dirty="0"/>
          </a:p>
        </p:txBody>
      </p:sp>
      <p:sp>
        <p:nvSpPr>
          <p:cNvPr id="10" name="Text 8"/>
          <p:cNvSpPr/>
          <p:nvPr/>
        </p:nvSpPr>
        <p:spPr>
          <a:xfrm>
            <a:off x="682991" y="2539279"/>
            <a:ext cx="10903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</a:t>
            </a:r>
            <a:endParaRPr lang="en-US" sz="105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591F4386-4FD2-DCD7-647A-4277D9F231A4}"/>
              </a:ext>
            </a:extLst>
          </p:cNvPr>
          <p:cNvSpPr/>
          <p:nvPr/>
        </p:nvSpPr>
        <p:spPr>
          <a:xfrm>
            <a:off x="701336" y="2783836"/>
            <a:ext cx="2124983" cy="128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Real Estate data</a:t>
            </a: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21597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sold houses in total</a:t>
            </a: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10832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</a:t>
            </a:r>
            <a:r>
              <a:rPr lang="en-US" sz="1000" b="1" u="sng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mid-class</a:t>
            </a:r>
          </a:p>
          <a:p>
            <a:pPr lvl="1">
              <a:lnSpc>
                <a:spcPts val="1365"/>
              </a:lnSpc>
              <a:spcAft>
                <a:spcPts val="450"/>
              </a:spcAft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Mid-class: defined as price segment of </a:t>
            </a: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322K-645K $</a:t>
            </a: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endParaRPr lang="en-US" sz="10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439EEDA-2720-6B36-53FF-813889156075}"/>
              </a:ext>
            </a:extLst>
          </p:cNvPr>
          <p:cNvSpPr/>
          <p:nvPr/>
        </p:nvSpPr>
        <p:spPr>
          <a:xfrm>
            <a:off x="4018091" y="2539279"/>
            <a:ext cx="229959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for our analysis</a:t>
            </a:r>
            <a:endParaRPr lang="en-US" sz="105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D97BBFEB-6010-A0E7-A316-CE67441A60C5}"/>
              </a:ext>
            </a:extLst>
          </p:cNvPr>
          <p:cNvSpPr/>
          <p:nvPr/>
        </p:nvSpPr>
        <p:spPr>
          <a:xfrm>
            <a:off x="4036436" y="2768468"/>
            <a:ext cx="2124983" cy="128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of good quality</a:t>
            </a: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in the next 12 months</a:t>
            </a: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from 2014-2015 on sold properties</a:t>
            </a: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endParaRPr lang="en-US" sz="1000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l">
              <a:lnSpc>
                <a:spcPts val="1365"/>
              </a:lnSpc>
              <a:spcAft>
                <a:spcPts val="450"/>
              </a:spcAft>
              <a:buFontTx/>
              <a:buChar char="-"/>
            </a:pPr>
            <a:endParaRPr lang="en-US" sz="1000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972672"/>
            <a:ext cx="4206812" cy="491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you sell your house?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364361" y="1972717"/>
            <a:ext cx="3046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latin typeface="Arial" pitchFamily="34" charset="0"/>
                <a:ea typeface="Arial" pitchFamily="34" charset="-122"/>
                <a:cs typeface="Arial" pitchFamily="34" charset="-120"/>
              </a:rPr>
              <a:t>OPTIMAL MONTHS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364361" y="2157413"/>
            <a:ext cx="304672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Apr + Jul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45311" y="3003203"/>
            <a:ext cx="3085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Price Difference: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45311" y="3220343"/>
            <a:ext cx="308558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345311" y="3570833"/>
            <a:ext cx="308558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Up to </a:t>
            </a:r>
            <a:r>
              <a:rPr lang="en-US" sz="140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$13.000 </a:t>
            </a:r>
            <a:r>
              <a:rPr lang="en-US" sz="14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1400" i="1" dirty="0"/>
          </a:p>
        </p:txBody>
      </p:sp>
      <p:sp>
        <p:nvSpPr>
          <p:cNvPr id="11" name="Text 9"/>
          <p:cNvSpPr/>
          <p:nvPr/>
        </p:nvSpPr>
        <p:spPr>
          <a:xfrm>
            <a:off x="755073" y="4425052"/>
            <a:ext cx="2459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 source: 10.832 Middle-Class Sells in 2014-2015</a:t>
            </a:r>
            <a:endParaRPr lang="en-US" sz="750" b="1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7C84C162-E9F0-DB94-0DAD-A42ADA4F480C}"/>
              </a:ext>
            </a:extLst>
          </p:cNvPr>
          <p:cNvSpPr/>
          <p:nvPr/>
        </p:nvSpPr>
        <p:spPr>
          <a:xfrm>
            <a:off x="477984" y="422565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1 – SEASONS MATTER</a:t>
            </a:r>
            <a:endParaRPr lang="en-US" sz="825" dirty="0"/>
          </a:p>
        </p:txBody>
      </p:sp>
      <p:graphicFrame>
        <p:nvGraphicFramePr>
          <p:cNvPr id="14" name="Chart 0">
            <a:extLst>
              <a:ext uri="{FF2B5EF4-FFF2-40B4-BE49-F238E27FC236}">
                <a16:creationId xmlns:a16="http://schemas.microsoft.com/office/drawing/2014/main" id="{732F0826-E303-6772-DF1B-ED32723FBA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388968"/>
              </p:ext>
            </p:extLst>
          </p:nvPr>
        </p:nvGraphicFramePr>
        <p:xfrm>
          <a:off x="457200" y="1517072"/>
          <a:ext cx="4281055" cy="2660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/>
          <p:cNvSpPr/>
          <p:nvPr/>
        </p:nvSpPr>
        <p:spPr>
          <a:xfrm>
            <a:off x="4800600" y="3187750"/>
            <a:ext cx="3703290" cy="525268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2" name="Text 0"/>
          <p:cNvSpPr/>
          <p:nvPr/>
        </p:nvSpPr>
        <p:spPr>
          <a:xfrm>
            <a:off x="457200" y="3048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2 – LOCATION MATTERs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6609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Makes </a:t>
            </a:r>
            <a:r>
              <a:rPr lang="en-US" sz="2100" b="1" dirty="0" err="1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Signifcant</a:t>
            </a:r>
            <a:r>
              <a:rPr lang="en-US" sz="21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Difference In Pricing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800600" y="2146102"/>
            <a:ext cx="3777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ZIPCODES</a:t>
            </a:r>
            <a:endParaRPr lang="en-US" sz="900" dirty="0">
              <a:solidFill>
                <a:srgbClr val="2E7D3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800600" y="2401342"/>
            <a:ext cx="1943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067300" y="2401342"/>
            <a:ext cx="30553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98075 Sammamish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138964" y="2401342"/>
            <a:ext cx="3722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$560K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800600" y="2650778"/>
            <a:ext cx="1943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067300" y="2650778"/>
            <a:ext cx="30553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98005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138964" y="2650778"/>
            <a:ext cx="3722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$558K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00600" y="2900214"/>
            <a:ext cx="1943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067300" y="2900214"/>
            <a:ext cx="30553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98119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138964" y="2900214"/>
            <a:ext cx="3722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$546K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24425" y="3283000"/>
            <a:ext cx="35539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Location has up to 50% influence on price difference.</a:t>
            </a:r>
            <a:b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(98030 – 98075)</a:t>
            </a:r>
            <a:endParaRPr lang="en-US" sz="900" b="1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E9A73B3A-1E3F-12B1-D0A9-BE753B31BD65}"/>
              </a:ext>
            </a:extLst>
          </p:cNvPr>
          <p:cNvSpPr/>
          <p:nvPr/>
        </p:nvSpPr>
        <p:spPr>
          <a:xfrm>
            <a:off x="755073" y="4182598"/>
            <a:ext cx="2265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  <a:spcBef>
                <a:spcPts val="1200"/>
              </a:spcBef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Analysis: 10.832 Middle-Class Sells in 2014-2015</a:t>
            </a:r>
            <a:b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800" b="1" dirty="0"/>
              <a:t>Minimum 30 sales per </a:t>
            </a:r>
            <a:r>
              <a:rPr lang="en-US" sz="800" b="1" dirty="0" err="1"/>
              <a:t>zipcode</a:t>
            </a:r>
            <a:r>
              <a:rPr lang="en-US" sz="800" b="1" dirty="0"/>
              <a:t> required for statistical reliability</a:t>
            </a:r>
            <a:endParaRPr lang="de-DE" sz="800" b="1" dirty="0"/>
          </a:p>
          <a:p>
            <a:pPr marL="0" indent="0" algn="l">
              <a:lnSpc>
                <a:spcPts val="1050"/>
              </a:lnSpc>
              <a:spcBef>
                <a:spcPts val="1200"/>
              </a:spcBef>
              <a:buNone/>
            </a:pPr>
            <a:endParaRPr lang="en-US" sz="750" b="1" dirty="0"/>
          </a:p>
        </p:txBody>
      </p:sp>
      <p:graphicFrame>
        <p:nvGraphicFramePr>
          <p:cNvPr id="22" name="Chart 0">
            <a:extLst>
              <a:ext uri="{FF2B5EF4-FFF2-40B4-BE49-F238E27FC236}">
                <a16:creationId xmlns:a16="http://schemas.microsoft.com/office/drawing/2014/main" id="{9196FD4A-D69E-4ABC-9D58-519211F20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1217822"/>
              </p:ext>
            </p:extLst>
          </p:nvPr>
        </p:nvGraphicFramePr>
        <p:xfrm>
          <a:off x="213881" y="1403896"/>
          <a:ext cx="41148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2D5AADF-DCD6-E052-FE45-BB66F59A746E}"/>
              </a:ext>
            </a:extLst>
          </p:cNvPr>
          <p:cNvCxnSpPr/>
          <p:nvPr/>
        </p:nvCxnSpPr>
        <p:spPr>
          <a:xfrm>
            <a:off x="457200" y="1863435"/>
            <a:ext cx="350520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Chart 0">
            <a:extLst>
              <a:ext uri="{FF2B5EF4-FFF2-40B4-BE49-F238E27FC236}">
                <a16:creationId xmlns:a16="http://schemas.microsoft.com/office/drawing/2014/main" id="{E6966ED6-5432-8AE4-0CF1-06C5802DA5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8517001"/>
              </p:ext>
            </p:extLst>
          </p:nvPr>
        </p:nvGraphicFramePr>
        <p:xfrm>
          <a:off x="457200" y="1241711"/>
          <a:ext cx="4589491" cy="2796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88BFD10E-5BBA-105E-D4D1-CD5D002B93B7}"/>
              </a:ext>
            </a:extLst>
          </p:cNvPr>
          <p:cNvSpPr/>
          <p:nvPr/>
        </p:nvSpPr>
        <p:spPr>
          <a:xfrm>
            <a:off x="5271655" y="1817180"/>
            <a:ext cx="1143000" cy="761267"/>
          </a:xfrm>
          <a:prstGeom prst="roundRect">
            <a:avLst>
              <a:gd name="adj" fmla="val 392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65F16C6F-0219-1A47-23BF-379B2453FDDD}"/>
              </a:ext>
            </a:extLst>
          </p:cNvPr>
          <p:cNvSpPr/>
          <p:nvPr/>
        </p:nvSpPr>
        <p:spPr>
          <a:xfrm>
            <a:off x="6489234" y="1806653"/>
            <a:ext cx="1143000" cy="761267"/>
          </a:xfrm>
          <a:prstGeom prst="roundRect">
            <a:avLst>
              <a:gd name="adj" fmla="val 392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 0"/>
          <p:cNvSpPr/>
          <p:nvPr/>
        </p:nvSpPr>
        <p:spPr>
          <a:xfrm>
            <a:off x="457200" y="3048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3: QUALITY MATTERS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36255"/>
            <a:ext cx="4206812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D32"/>
                </a:solidFill>
                <a:latin typeface="Georgia" panose="02040502050405020303" pitchFamily="18" charset="0"/>
              </a:rPr>
              <a:t>Quality Is Critical to Maximizing Sale Price</a:t>
            </a:r>
            <a:endParaRPr lang="en-US" sz="2100" b="1" dirty="0">
              <a:solidFill>
                <a:srgbClr val="2E7D32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64361" y="2870820"/>
            <a:ext cx="3357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</a:t>
            </a:r>
            <a:r>
              <a:rPr lang="de-DE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Grade </a:t>
            </a:r>
            <a:r>
              <a:rPr lang="de-DE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has</a:t>
            </a:r>
            <a:r>
              <a:rPr lang="de-DE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</a:t>
            </a:r>
            <a:r>
              <a:rPr lang="de-DE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significant</a:t>
            </a:r>
            <a:r>
              <a:rPr lang="de-DE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</a:t>
            </a:r>
            <a:r>
              <a:rPr lang="de-DE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impact</a:t>
            </a:r>
            <a:r>
              <a:rPr lang="de-DE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on </a:t>
            </a:r>
            <a:r>
              <a:rPr lang="de-DE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price</a:t>
            </a:r>
            <a:endParaRPr lang="en-US" sz="900" b="1" dirty="0"/>
          </a:p>
        </p:txBody>
      </p:sp>
      <p:sp>
        <p:nvSpPr>
          <p:cNvPr id="9" name="Text 7"/>
          <p:cNvSpPr/>
          <p:nvPr/>
        </p:nvSpPr>
        <p:spPr>
          <a:xfrm>
            <a:off x="5211961" y="3323183"/>
            <a:ext cx="3291780" cy="653207"/>
          </a:xfrm>
          <a:prstGeom prst="roundRect">
            <a:avLst>
              <a:gd name="adj" fmla="val 11666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26261" y="3437483"/>
            <a:ext cx="3124444" cy="14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difference from Grade  8 to 9:</a:t>
            </a:r>
            <a:endParaRPr lang="en-US" sz="825" dirty="0">
              <a:solidFill>
                <a:srgbClr val="2E7D3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326261" y="3622179"/>
            <a:ext cx="312444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+$37k</a:t>
            </a:r>
            <a:endParaRPr lang="en-US" sz="1350" dirty="0">
              <a:solidFill>
                <a:srgbClr val="2E7D3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7265" y="3992964"/>
            <a:ext cx="2592000" cy="614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Analysis: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10.832 Middle-Class Sells in 2014-2015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Grades considered with &gt; 30 objects: Grades 4-11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Grade Scale total: 1-13 in King County</a:t>
            </a:r>
            <a:endParaRPr lang="en-US" sz="750" b="1" dirty="0"/>
          </a:p>
        </p:txBody>
      </p:sp>
      <p:sp>
        <p:nvSpPr>
          <p:cNvPr id="14" name="Text 3"/>
          <p:cNvSpPr/>
          <p:nvPr/>
        </p:nvSpPr>
        <p:spPr>
          <a:xfrm>
            <a:off x="6590491" y="1846957"/>
            <a:ext cx="800912" cy="12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latin typeface="Arial" pitchFamily="34" charset="0"/>
                <a:ea typeface="Arial" pitchFamily="34" charset="-122"/>
                <a:cs typeface="Arial" pitchFamily="34" charset="-120"/>
              </a:rPr>
              <a:t>CORRELATION:</a:t>
            </a:r>
            <a:endParaRPr lang="en-US" sz="750" dirty="0"/>
          </a:p>
        </p:txBody>
      </p:sp>
      <p:sp>
        <p:nvSpPr>
          <p:cNvPr id="15" name="Text 4"/>
          <p:cNvSpPr/>
          <p:nvPr/>
        </p:nvSpPr>
        <p:spPr>
          <a:xfrm>
            <a:off x="6590491" y="2018407"/>
            <a:ext cx="925603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0.29</a:t>
            </a:r>
            <a:endParaRPr lang="en-US" sz="1400" dirty="0"/>
          </a:p>
        </p:txBody>
      </p:sp>
      <p:sp>
        <p:nvSpPr>
          <p:cNvPr id="16" name="Text 5"/>
          <p:cNvSpPr/>
          <p:nvPr/>
        </p:nvSpPr>
        <p:spPr>
          <a:xfrm>
            <a:off x="6617048" y="1955733"/>
            <a:ext cx="3046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= correlation between </a:t>
            </a:r>
            <a:br>
              <a:rPr lang="en-US" sz="800" i="1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8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grade and price</a:t>
            </a:r>
            <a:endParaRPr lang="en-US" sz="800" i="1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C260C356-ADD7-4D00-A0F5-C627AE54AAE5}"/>
              </a:ext>
            </a:extLst>
          </p:cNvPr>
          <p:cNvSpPr/>
          <p:nvPr/>
        </p:nvSpPr>
        <p:spPr>
          <a:xfrm>
            <a:off x="3235036" y="1633471"/>
            <a:ext cx="540327" cy="493202"/>
          </a:xfrm>
          <a:custGeom>
            <a:avLst/>
            <a:gdLst>
              <a:gd name="connsiteX0" fmla="*/ 0 w 540327"/>
              <a:gd name="connsiteY0" fmla="*/ 493202 h 493202"/>
              <a:gd name="connsiteX1" fmla="*/ 138546 w 540327"/>
              <a:gd name="connsiteY1" fmla="*/ 8292 h 493202"/>
              <a:gd name="connsiteX2" fmla="*/ 540327 w 540327"/>
              <a:gd name="connsiteY2" fmla="*/ 174547 h 493202"/>
              <a:gd name="connsiteX3" fmla="*/ 540327 w 540327"/>
              <a:gd name="connsiteY3" fmla="*/ 174547 h 493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0327" h="493202" extrusionOk="0">
                <a:moveTo>
                  <a:pt x="0" y="493202"/>
                </a:moveTo>
                <a:cubicBezTo>
                  <a:pt x="14255" y="271138"/>
                  <a:pt x="30289" y="68233"/>
                  <a:pt x="138546" y="8292"/>
                </a:cubicBezTo>
                <a:cubicBezTo>
                  <a:pt x="228601" y="-44817"/>
                  <a:pt x="540326" y="174547"/>
                  <a:pt x="540327" y="174547"/>
                </a:cubicBezTo>
                <a:lnTo>
                  <a:pt x="540327" y="174547"/>
                </a:lnTo>
              </a:path>
            </a:pathLst>
          </a:custGeom>
          <a:noFill/>
          <a:ln>
            <a:solidFill>
              <a:srgbClr val="2E7D32"/>
            </a:solidFill>
            <a:prstDash val="sysDot"/>
            <a:tailEnd type="triangle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0327"/>
                      <a:gd name="connsiteY0" fmla="*/ 493202 h 493202"/>
                      <a:gd name="connsiteX1" fmla="*/ 138546 w 540327"/>
                      <a:gd name="connsiteY1" fmla="*/ 8292 h 493202"/>
                      <a:gd name="connsiteX2" fmla="*/ 540327 w 540327"/>
                      <a:gd name="connsiteY2" fmla="*/ 174547 h 493202"/>
                      <a:gd name="connsiteX3" fmla="*/ 540327 w 540327"/>
                      <a:gd name="connsiteY3" fmla="*/ 174547 h 4932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0327" h="493202">
                        <a:moveTo>
                          <a:pt x="0" y="493202"/>
                        </a:moveTo>
                        <a:cubicBezTo>
                          <a:pt x="24246" y="277301"/>
                          <a:pt x="48492" y="61401"/>
                          <a:pt x="138546" y="8292"/>
                        </a:cubicBezTo>
                        <a:cubicBezTo>
                          <a:pt x="228600" y="-44817"/>
                          <a:pt x="540327" y="174547"/>
                          <a:pt x="540327" y="174547"/>
                        </a:cubicBezTo>
                        <a:lnTo>
                          <a:pt x="540327" y="17454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2E7D32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2B858A9-2EBC-D9F5-5405-BA5BAEF1BD0C}"/>
              </a:ext>
            </a:extLst>
          </p:cNvPr>
          <p:cNvSpPr txBox="1"/>
          <p:nvPr/>
        </p:nvSpPr>
        <p:spPr>
          <a:xfrm>
            <a:off x="3080151" y="1413166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2E7D32"/>
                </a:solidFill>
                <a:latin typeface="Georgia" panose="02040502050405020303" pitchFamily="18" charset="0"/>
              </a:rPr>
              <a:t>*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52E1CC0-B192-1D56-DAB1-B7B79AA0CD52}"/>
              </a:ext>
            </a:extLst>
          </p:cNvPr>
          <p:cNvSpPr txBox="1"/>
          <p:nvPr/>
        </p:nvSpPr>
        <p:spPr>
          <a:xfrm>
            <a:off x="5046691" y="3306869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2E7D32"/>
                </a:solidFill>
                <a:latin typeface="Georgia" panose="02040502050405020303" pitchFamily="18" charset="0"/>
              </a:rPr>
              <a:t>*</a:t>
            </a: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EC6BA9CC-89B9-DA97-2664-ECBE7406AD11}"/>
              </a:ext>
            </a:extLst>
          </p:cNvPr>
          <p:cNvSpPr/>
          <p:nvPr/>
        </p:nvSpPr>
        <p:spPr>
          <a:xfrm>
            <a:off x="5419779" y="1840033"/>
            <a:ext cx="953315" cy="26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latin typeface="Arial" pitchFamily="34" charset="0"/>
                <a:ea typeface="Arial" pitchFamily="34" charset="-122"/>
                <a:cs typeface="Arial" pitchFamily="34" charset="-120"/>
              </a:rPr>
              <a:t>PRICE DIFFERENCE:</a:t>
            </a:r>
            <a:br>
              <a:rPr lang="en-US" sz="75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750" dirty="0">
                <a:latin typeface="Arial" pitchFamily="34" charset="0"/>
                <a:ea typeface="Arial" pitchFamily="34" charset="-122"/>
                <a:cs typeface="Arial" pitchFamily="34" charset="-120"/>
              </a:rPr>
              <a:t>(Grade 4 – 11)</a:t>
            </a:r>
            <a:endParaRPr lang="en-US" sz="7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8D0E866D-23F9-EDAC-CF2E-575E396637D0}"/>
              </a:ext>
            </a:extLst>
          </p:cNvPr>
          <p:cNvSpPr/>
          <p:nvPr/>
        </p:nvSpPr>
        <p:spPr>
          <a:xfrm>
            <a:off x="5393222" y="2044081"/>
            <a:ext cx="1173834" cy="277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10"/>
              </a:lnSpc>
              <a:buNone/>
            </a:pPr>
            <a:r>
              <a:rPr lang="de-DE" sz="1400" dirty="0" err="1">
                <a:solidFill>
                  <a:srgbClr val="000000"/>
                </a:solidFill>
                <a:latin typeface="Geneva"/>
              </a:rPr>
              <a:t>u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Geneva"/>
              </a:rPr>
              <a:t>p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Geneva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Geneva"/>
              </a:rPr>
              <a:t>to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Geneva"/>
              </a:rPr>
              <a:t> 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  <a:latin typeface="Geneva"/>
              </a:rPr>
              <a:t>60%</a:t>
            </a:r>
            <a:r>
              <a:rPr lang="de-DE" sz="1400" dirty="0"/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1812727"/>
            <a:ext cx="2641550" cy="1689497"/>
          </a:xfrm>
          <a:prstGeom prst="roundRect">
            <a:avLst>
              <a:gd name="adj" fmla="val 45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965127"/>
            <a:ext cx="2383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380357"/>
            <a:ext cx="2383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600" y="2570857"/>
            <a:ext cx="2383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In Spring &amp; Summer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860328"/>
            <a:ext cx="2383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best prices in April and July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09600" y="3102173"/>
            <a:ext cx="2336750" cy="247650"/>
          </a:xfrm>
          <a:prstGeom prst="roundRect">
            <a:avLst>
              <a:gd name="adj" fmla="val 1538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3159323"/>
            <a:ext cx="2266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+3% Profit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51150" y="1812727"/>
            <a:ext cx="2641550" cy="1689497"/>
          </a:xfrm>
          <a:prstGeom prst="roundRect">
            <a:avLst>
              <a:gd name="adj" fmla="val 45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3550" y="1965127"/>
            <a:ext cx="2383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03550" y="2380357"/>
            <a:ext cx="2383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03550" y="2570857"/>
            <a:ext cx="2383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Emphasis on Location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3550" y="2860328"/>
            <a:ext cx="2383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pay significantly more in good locations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403550" y="3102173"/>
            <a:ext cx="2336750" cy="247650"/>
          </a:xfrm>
          <a:prstGeom prst="roundRect">
            <a:avLst>
              <a:gd name="adj" fmla="val 1538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60700" y="3159323"/>
            <a:ext cx="2266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</a:t>
            </a:r>
            <a:r>
              <a:rPr lang="en-US" sz="750" b="1" dirty="0" err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Influience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45101" y="1812727"/>
            <a:ext cx="2641550" cy="1689497"/>
          </a:xfrm>
          <a:prstGeom prst="roundRect">
            <a:avLst>
              <a:gd name="adj" fmla="val 45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97501" y="1965127"/>
            <a:ext cx="2383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7501" y="2380357"/>
            <a:ext cx="2383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UP-GRADING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97501" y="2570857"/>
            <a:ext cx="2383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up-grading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7501" y="2860328"/>
            <a:ext cx="2383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Slight renovation can increase profit 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197501" y="3102173"/>
            <a:ext cx="2336750" cy="247650"/>
          </a:xfrm>
          <a:prstGeom prst="roundRect">
            <a:avLst>
              <a:gd name="adj" fmla="val 1538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54651" y="3159323"/>
            <a:ext cx="2266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cs typeface="Arial" pitchFamily="34" charset="-120"/>
              </a:rPr>
              <a:t>Grade 8- 9: +37k$ more profit 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470535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Basierend auf 21.597 Verkaeufen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99759" y="2138971"/>
            <a:ext cx="3144482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10"/>
              </a:lnSpc>
              <a:spcAft>
                <a:spcPts val="21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Your</a:t>
            </a:r>
            <a:b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270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Atttention</a:t>
            </a: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 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132677" y="3986064"/>
            <a:ext cx="8786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3737" y="4427934"/>
            <a:ext cx="15163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Bildschirmpräsentation (16:9)</PresentationFormat>
  <Paragraphs>88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Geneva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Marktanalyse Bonnie Brown</dc:title>
  <dc:subject>PptxGenJS Presentation</dc:subject>
  <dc:creator>Data Analytics Team</dc:creator>
  <cp:lastModifiedBy>Th Heger</cp:lastModifiedBy>
  <cp:revision>8</cp:revision>
  <dcterms:created xsi:type="dcterms:W3CDTF">2025-12-18T15:40:32Z</dcterms:created>
  <dcterms:modified xsi:type="dcterms:W3CDTF">2025-12-19T11:09:45Z</dcterms:modified>
</cp:coreProperties>
</file>